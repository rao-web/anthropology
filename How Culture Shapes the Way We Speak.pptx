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831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ST NUCE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3736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NUCES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173736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University of Computer &amp; Emerging Sciences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73736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Anthropology  |  BS Software Engineering</a:t>
            </a:r>
            <a:endParaRPr lang="en-US" sz="1200" dirty="0"/>
          </a:p>
        </p:txBody>
      </p:sp>
      <p:sp>
        <p:nvSpPr>
          <p:cNvPr id="6" name="QR code placeholder"/>
          <p:cNvSpPr/>
          <p:nvPr/>
        </p:nvSpPr>
        <p:spPr>
          <a:xfrm>
            <a:off x="9226296" y="201105"/>
            <a:ext cx="1042416" cy="103333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3175">
            <a:solidFill>
              <a:srgbClr val="FFC000"/>
            </a:solidFill>
            <a:prstDash val="solid"/>
          </a:ln>
        </p:spPr>
      </p:sp>
      <p:sp>
        <p:nvSpPr>
          <p:cNvPr id="8" name="QR caption"/>
          <p:cNvSpPr txBox="1"/>
          <p:nvPr/>
        </p:nvSpPr>
        <p:spPr>
          <a:xfrm>
            <a:off x="8997696" y="12984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visit our website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691640"/>
            <a:ext cx="9683496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965960"/>
            <a:ext cx="9683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spc="60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ANTHROPOLOGY OF COMMUNICATION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2240280"/>
            <a:ext cx="96834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Culture Shapes the Way We Speak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3931920"/>
            <a:ext cx="9683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Said vs. What Was Meant</a:t>
            </a:r>
            <a:endParaRPr lang="en-US" sz="2600" dirty="0"/>
          </a:p>
        </p:txBody>
      </p:sp>
      <p:sp>
        <p:nvSpPr>
          <p:cNvPr id="13" name="Card 01"/>
          <p:cNvSpPr/>
          <p:nvPr/>
        </p:nvSpPr>
        <p:spPr>
          <a:xfrm>
            <a:off x="502920" y="4663440"/>
            <a:ext cx="4704588" cy="3611880"/>
          </a:xfrm>
          <a:prstGeom prst="rect">
            <a:avLst/>
          </a:prstGeom>
          <a:solidFill>
            <a:srgbClr val="13294B"/>
          </a:solidFill>
          <a:ln w="9525">
            <a:solidFill>
              <a:srgbClr val="E8B84B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4663440"/>
            <a:ext cx="4704588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9377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495604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Words We Choose,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Meaning We Hide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852160"/>
            <a:ext cx="41559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High-context cultures hide meaning in tone, relationship and situation; low-context cultures say it directly (Edward T. Hall).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 indirectness protects “face”: “We’ll see” or “Dekhte hain” can quietly mean no.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Idioms, proverbs and honorifics carry values that never translate word for word.</a:t>
            </a:r>
            <a:endParaRPr lang="en-US" sz="1450" dirty="0"/>
          </a:p>
        </p:txBody>
      </p:sp>
      <p:sp>
        <p:nvSpPr>
          <p:cNvPr id="18" name="Card 02"/>
          <p:cNvSpPr/>
          <p:nvPr/>
        </p:nvSpPr>
        <p:spPr>
          <a:xfrm>
            <a:off x="5481828" y="4663440"/>
            <a:ext cx="4704588" cy="3611880"/>
          </a:xfrm>
          <a:prstGeom prst="rect">
            <a:avLst/>
          </a:prstGeom>
          <a:solidFill>
            <a:srgbClr val="13294B"/>
          </a:solidFill>
          <a:ln w="9525">
            <a:solidFill>
              <a:srgbClr val="E8B84B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1828" y="4663440"/>
            <a:ext cx="4704588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56148" y="49377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21" name="Text 18"/>
          <p:cNvSpPr txBox="1"/>
          <p:nvPr/>
        </p:nvSpPr>
        <p:spPr>
          <a:xfrm>
            <a:off x="6624828" y="495604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Gestures, Glances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Personal Space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756148" y="5852160"/>
            <a:ext cx="41559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Proxemics: every culture has its own comfortable distance for intimate, personal, social and public talk.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contact signals respect in one culture and challenge or rudeness in another.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gesture, such as a thumbs-up or a head nod, can carry opposite meanings across borders.</a:t>
            </a:r>
            <a:endParaRPr lang="en-US" sz="1450" dirty="0"/>
          </a:p>
        </p:txBody>
      </p:sp>
      <p:sp>
        <p:nvSpPr>
          <p:cNvPr id="23" name="Card 03"/>
          <p:cNvSpPr/>
          <p:nvPr/>
        </p:nvSpPr>
        <p:spPr>
          <a:xfrm>
            <a:off x="502920" y="8549640"/>
            <a:ext cx="4704588" cy="3611880"/>
          </a:xfrm>
          <a:prstGeom prst="rect">
            <a:avLst/>
          </a:prstGeom>
          <a:solidFill>
            <a:srgbClr val="13294B"/>
          </a:solidFill>
          <a:ln w="9525">
            <a:solidFill>
              <a:srgbClr val="E8B84B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8549640"/>
            <a:ext cx="4704588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8823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26" name="Text 23"/>
          <p:cNvSpPr txBox="1"/>
          <p:nvPr/>
        </p:nvSpPr>
        <p:spPr>
          <a:xfrm>
            <a:off x="1645920" y="884224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Power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Silence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9738360"/>
            <a:ext cx="41559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 can mean respect, agreement, disagreement, thought or deep discomfort.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 ma and Western Apache silence (Keith Basso) treat pauses as meaningful, not empty.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talk is valued, silence feels awkward; where listening is valued, interrupting it feels rude.</a:t>
            </a:r>
            <a:endParaRPr lang="en-US" sz="1450" dirty="0"/>
          </a:p>
        </p:txBody>
      </p:sp>
      <p:sp>
        <p:nvSpPr>
          <p:cNvPr id="28" name="Card 04"/>
          <p:cNvSpPr/>
          <p:nvPr/>
        </p:nvSpPr>
        <p:spPr>
          <a:xfrm>
            <a:off x="5481828" y="8549640"/>
            <a:ext cx="4704588" cy="3611880"/>
          </a:xfrm>
          <a:prstGeom prst="rect">
            <a:avLst/>
          </a:prstGeom>
          <a:solidFill>
            <a:srgbClr val="13294B"/>
          </a:solidFill>
          <a:ln w="9525">
            <a:solidFill>
              <a:srgbClr val="E8B84B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1828" y="8549640"/>
            <a:ext cx="4704588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756148" y="8823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31" name="Text 28"/>
          <p:cNvSpPr txBox="1"/>
          <p:nvPr/>
        </p:nvSpPr>
        <p:spPr>
          <a:xfrm>
            <a:off x="6624828" y="884224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Misleading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Communication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5756148" y="9738360"/>
            <a:ext cx="41559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deals, failed negotiations and workplace conflict grow from misread signals.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Misunderstandings in healthcare, education and diplomacy can harm real people.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◆"/>
            </a:pPr>
            <a:r>
              <a:rPr lang="en-US" sz="145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others by our own norms is ethnocentrism; the cure is curiosity, observation and clarifying questions.</a:t>
            </a:r>
            <a:endParaRPr lang="en-US" sz="1450" dirty="0"/>
          </a:p>
        </p:txBody>
      </p:sp>
      <p:sp>
        <p:nvSpPr>
          <p:cNvPr id="33" name="Shape 30"/>
          <p:cNvSpPr/>
          <p:nvPr/>
        </p:nvSpPr>
        <p:spPr>
          <a:xfrm>
            <a:off x="502920" y="12390120"/>
            <a:ext cx="9683496" cy="7315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12390120"/>
            <a:ext cx="9226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is not only what we say; it is what our culture taught us to mean.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02920" y="13304520"/>
            <a:ext cx="9683496" cy="0"/>
          </a:xfrm>
          <a:prstGeom prst="line">
            <a:avLst/>
          </a:prstGeom>
          <a:noFill/>
          <a:ln w="12700">
            <a:solidFill>
              <a:srgbClr val="E8B84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3423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supervision of</a:t>
            </a:r>
            <a:endParaRPr lang="en-US" sz="1100" dirty="0"/>
          </a:p>
        </p:txBody>
      </p:sp>
      <p:sp>
        <p:nvSpPr>
          <p:cNvPr id="37" name="Photo - Instructor"/>
          <p:cNvSpPr/>
          <p:nvPr/>
        </p:nvSpPr>
        <p:spPr>
          <a:xfrm>
            <a:off x="502920" y="13734288"/>
            <a:ext cx="960120" cy="96012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28575">
            <a:solidFill>
              <a:srgbClr val="E8B84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645920" y="138257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Shahnawaz Muhammad Khan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C9C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(Int. Rel.), FUUAST, Islamabad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4069080" y="13441680"/>
            <a:ext cx="0" cy="1463040"/>
          </a:xfrm>
          <a:prstGeom prst="line">
            <a:avLst/>
          </a:prstGeom>
          <a:noFill/>
          <a:ln w="9525">
            <a:solidFill>
              <a:srgbClr val="E8B84B">
                <a:alpha val="5000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343400" y="13423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42" name="Photo - Hammad Ahmed"/>
          <p:cNvSpPr/>
          <p:nvPr/>
        </p:nvSpPr>
        <p:spPr>
          <a:xfrm>
            <a:off x="4640580" y="13716000"/>
            <a:ext cx="777240" cy="777240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 w="28575">
            <a:solidFill>
              <a:srgbClr val="E8B84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297680" y="14557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Hammad Ahmed</a:t>
            </a:r>
          </a:p>
          <a:p>
            <a:pPr marL="0" indent="0" algn="ctr">
              <a:buNone/>
            </a:pPr>
            <a:r>
              <a:rPr lang="en-US" sz="1150" b="1" dirty="0">
                <a:solidFill>
                  <a:srgbClr val="F7F3EA"/>
                </a:solidFill>
                <a:latin typeface="Georgia" pitchFamily="34" charset="0"/>
              </a:rPr>
              <a:t>26K-3058</a:t>
            </a:r>
            <a:endParaRPr lang="en-US" sz="1150" dirty="0"/>
          </a:p>
        </p:txBody>
      </p:sp>
      <p:sp>
        <p:nvSpPr>
          <p:cNvPr id="45" name="Photo - Arsum Ali"/>
          <p:cNvSpPr/>
          <p:nvPr/>
        </p:nvSpPr>
        <p:spPr>
          <a:xfrm>
            <a:off x="6103620" y="13716000"/>
            <a:ext cx="777240" cy="77724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28575">
            <a:solidFill>
              <a:srgbClr val="E8B84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760720" y="14557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Arsum</a:t>
            </a:r>
            <a:r>
              <a:rPr lang="en-US" sz="115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Ali</a:t>
            </a:r>
          </a:p>
          <a:p>
            <a:pPr marL="0" indent="0" algn="ctr">
              <a:buNone/>
            </a:pPr>
            <a:r>
              <a:rPr lang="en-US" sz="1150" b="1" dirty="0">
                <a:solidFill>
                  <a:srgbClr val="F7F3EA"/>
                </a:solidFill>
                <a:latin typeface="Georgia" pitchFamily="34" charset="0"/>
              </a:rPr>
              <a:t>26K-3045</a:t>
            </a:r>
            <a:endParaRPr lang="en-US" sz="1150" dirty="0"/>
          </a:p>
        </p:txBody>
      </p:sp>
      <p:sp>
        <p:nvSpPr>
          <p:cNvPr id="48" name="Photo - Zunair Azeem"/>
          <p:cNvSpPr/>
          <p:nvPr/>
        </p:nvSpPr>
        <p:spPr>
          <a:xfrm>
            <a:off x="7566660" y="13716000"/>
            <a:ext cx="777240" cy="777240"/>
          </a:xfrm>
          <a:prstGeom prst="ellipse">
            <a:avLst/>
          </a:prstGeom>
          <a:blipFill>
            <a:blip r:embed="rId8"/>
            <a:stretch>
              <a:fillRect/>
            </a:stretch>
          </a:blipFill>
          <a:ln w="28575">
            <a:solidFill>
              <a:srgbClr val="E8B84B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223760" y="14557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Zunair Azeem</a:t>
            </a:r>
          </a:p>
          <a:p>
            <a:pPr marL="0" indent="0" algn="ctr">
              <a:buNone/>
            </a:pPr>
            <a:r>
              <a:rPr lang="en-US" sz="1150" b="1" dirty="0">
                <a:solidFill>
                  <a:srgbClr val="F7F3EA"/>
                </a:solidFill>
                <a:latin typeface="Georgia" pitchFamily="34" charset="0"/>
              </a:rPr>
              <a:t>26K-3044</a:t>
            </a:r>
            <a:endParaRPr lang="en-US" sz="1150" dirty="0"/>
          </a:p>
        </p:txBody>
      </p:sp>
      <p:sp>
        <p:nvSpPr>
          <p:cNvPr id="51" name="Photo - Taha Islam"/>
          <p:cNvSpPr/>
          <p:nvPr/>
        </p:nvSpPr>
        <p:spPr>
          <a:xfrm>
            <a:off x="9029700" y="13716000"/>
            <a:ext cx="777240" cy="777240"/>
          </a:xfrm>
          <a:prstGeom prst="ellipse">
            <a:avLst/>
          </a:prstGeom>
          <a:blipFill>
            <a:blip r:embed="rId9"/>
            <a:stretch>
              <a:fillRect/>
            </a:stretch>
          </a:blipFill>
          <a:ln w="28575">
            <a:solidFill>
              <a:srgbClr val="E8B84B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686800" y="14557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Taha Islam</a:t>
            </a:r>
          </a:p>
          <a:p>
            <a:pPr marL="0" indent="0" algn="ctr">
              <a:buNone/>
            </a:pPr>
            <a:r>
              <a:rPr lang="en-US" sz="1150" b="1" dirty="0">
                <a:solidFill>
                  <a:srgbClr val="F7F3EA"/>
                </a:solidFill>
                <a:latin typeface="Georgia" pitchFamily="34" charset="0"/>
              </a:rPr>
              <a:t>26K-3051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321</Words>
  <Application>Microsoft Office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Culture Shapes the Way We Speak</dc:title>
  <dc:subject>PptxGenJS Presentation</dc:subject>
  <dc:creator>PptxGenJS</dc:creator>
  <cp:lastModifiedBy>Hammad Ahmed</cp:lastModifiedBy>
  <cp:revision>6</cp:revision>
  <dcterms:created xsi:type="dcterms:W3CDTF">2026-10-24T08:04:28Z</dcterms:created>
  <dcterms:modified xsi:type="dcterms:W3CDTF">2026-10-24T09:13:45Z</dcterms:modified>
</cp:coreProperties>
</file>